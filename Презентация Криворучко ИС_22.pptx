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44"/>
  </p:notesMasterIdLst>
  <p:sldIdLst>
    <p:sldId id="256" r:id="rId2"/>
    <p:sldId id="294" r:id="rId3"/>
    <p:sldId id="257" r:id="rId4"/>
    <p:sldId id="260" r:id="rId5"/>
    <p:sldId id="297" r:id="rId6"/>
    <p:sldId id="301" r:id="rId7"/>
    <p:sldId id="300" r:id="rId8"/>
    <p:sldId id="298" r:id="rId9"/>
    <p:sldId id="261" r:id="rId10"/>
    <p:sldId id="262" r:id="rId11"/>
    <p:sldId id="263" r:id="rId12"/>
    <p:sldId id="264" r:id="rId13"/>
    <p:sldId id="265" r:id="rId14"/>
    <p:sldId id="258" r:id="rId15"/>
    <p:sldId id="259" r:id="rId16"/>
    <p:sldId id="266" r:id="rId17"/>
    <p:sldId id="267" r:id="rId18"/>
    <p:sldId id="268" r:id="rId19"/>
    <p:sldId id="291" r:id="rId20"/>
    <p:sldId id="269" r:id="rId21"/>
    <p:sldId id="270" r:id="rId22"/>
    <p:sldId id="272" r:id="rId23"/>
    <p:sldId id="287" r:id="rId24"/>
    <p:sldId id="290" r:id="rId25"/>
    <p:sldId id="273" r:id="rId26"/>
    <p:sldId id="288" r:id="rId27"/>
    <p:sldId id="289" r:id="rId28"/>
    <p:sldId id="296" r:id="rId29"/>
    <p:sldId id="292" r:id="rId30"/>
    <p:sldId id="293" r:id="rId31"/>
    <p:sldId id="274" r:id="rId32"/>
    <p:sldId id="275" r:id="rId33"/>
    <p:sldId id="281" r:id="rId34"/>
    <p:sldId id="276" r:id="rId35"/>
    <p:sldId id="277" r:id="rId36"/>
    <p:sldId id="282" r:id="rId37"/>
    <p:sldId id="283" r:id="rId38"/>
    <p:sldId id="286" r:id="rId39"/>
    <p:sldId id="284" r:id="rId40"/>
    <p:sldId id="285" r:id="rId41"/>
    <p:sldId id="295" r:id="rId42"/>
    <p:sldId id="279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EB6DC-0018-4909-AD4C-1792ED74D983}" type="datetimeFigureOut">
              <a:rPr lang="ru-RU" smtClean="0"/>
              <a:t>08.06.2025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7AC7B-AA41-4D6E-8CE9-F964AFB910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88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48135A0-A376-4A31-9CF9-4B1361C4F569}" type="datetime1">
              <a:rPr lang="ru-RU" smtClean="0"/>
              <a:t>08.06.2025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75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C78A3-0103-48F3-8A9F-260EC1129FBA}" type="datetime1">
              <a:rPr lang="ru-RU" smtClean="0"/>
              <a:t>08.06.2025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45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792B4-7CE5-48F7-A07C-20F4B999933D}" type="datetime1">
              <a:rPr lang="ru-RU" smtClean="0"/>
              <a:t>08.06.2025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207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E0AF6-5C40-4191-8D00-0AB236FD699B}" type="datetime1">
              <a:rPr lang="ru-RU" smtClean="0"/>
              <a:t>08.06.2025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116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2162F-1038-49C5-81C8-5195FABD22BD}" type="datetime1">
              <a:rPr lang="ru-RU" smtClean="0"/>
              <a:t>08.06.2025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52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2934-7EDC-4882-ADD6-CFA073FE0888}" type="datetime1">
              <a:rPr lang="ru-RU" smtClean="0"/>
              <a:t>08.06.2025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74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077C-4B89-4512-95EA-919AA3B4FE77}" type="datetime1">
              <a:rPr lang="ru-RU" smtClean="0"/>
              <a:t>08.06.2025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558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B6DD-ABAB-4C20-9D12-D8426001AA3E}" type="datetime1">
              <a:rPr lang="ru-RU" smtClean="0"/>
              <a:t>08.06.2025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17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2FE8-57B6-480F-A2DF-5AE051FEEE26}" type="datetime1">
              <a:rPr lang="ru-RU" smtClean="0"/>
              <a:t>08.06.2025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00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C8A7-D9BD-4570-BD15-D4D1BB8BD3ED}" type="datetime1">
              <a:rPr lang="ru-RU" smtClean="0"/>
              <a:t>08.06.2025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2874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CA1B8-F9CC-4D1A-9FE3-A00393E1EA11}" type="datetime1">
              <a:rPr lang="ru-RU" smtClean="0"/>
              <a:t>08.06.2025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324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B19-EE4D-45B4-A298-6EBE79A8EB76}" type="datetime1">
              <a:rPr lang="ru-RU" smtClean="0"/>
              <a:t>08.06.2025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9017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864D-E627-440C-968B-7B5EFECE7292}" type="datetime1">
              <a:rPr lang="ru-RU" smtClean="0"/>
              <a:t>08.06.2025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588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C830C-A745-432D-97D9-DEC41746D4D8}" type="datetime1">
              <a:rPr lang="ru-RU" smtClean="0"/>
              <a:t>08.06.2025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728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56DC1-6E59-41CA-8489-9EDE981AC623}" type="datetime1">
              <a:rPr lang="ru-RU" smtClean="0"/>
              <a:t>08.06.2025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689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B61E-9B3D-4685-ADE5-A52FEDF7F434}" type="datetime1">
              <a:rPr lang="ru-RU" smtClean="0"/>
              <a:t>08.06.2025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92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6BA2-FF1A-408B-9BB7-F7CA7101C621}" type="datetime1">
              <a:rPr lang="ru-RU" smtClean="0"/>
              <a:t>08.06.2025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07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9524"/>
            <a:ext cx="12192003" cy="683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DE5FF-FFBA-4C9C-8585-2372ADA7836A}" type="datetime1">
              <a:rPr lang="ru-RU" smtClean="0"/>
              <a:t>08.06.2025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1140978" cy="5000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621C407-8EC4-4F8E-96E6-71BCBD5DBFF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6688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dirty="0"/>
              <a:t>Тема: разработка веб-приложения «</a:t>
            </a:r>
            <a:r>
              <a:rPr lang="en-US" sz="4400" dirty="0"/>
              <a:t>Water Meters</a:t>
            </a:r>
            <a:r>
              <a:rPr lang="ru-RU" sz="4400" dirty="0"/>
              <a:t>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343497" y="3509963"/>
            <a:ext cx="4915178" cy="2769190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chemeClr val="tx1"/>
                </a:solidFill>
              </a:rPr>
              <a:t>Работу выполнил студент группы ИС-22:</a:t>
            </a:r>
          </a:p>
          <a:p>
            <a:r>
              <a:rPr lang="ru-RU" sz="1800" dirty="0">
                <a:solidFill>
                  <a:schemeClr val="tx1"/>
                </a:solidFill>
              </a:rPr>
              <a:t>Криворучко Павел Сергеевич</a:t>
            </a:r>
          </a:p>
          <a:p>
            <a:r>
              <a:rPr lang="ru-RU" sz="1800" dirty="0">
                <a:solidFill>
                  <a:schemeClr val="tx1"/>
                </a:solidFill>
              </a:rPr>
              <a:t>Ассистенты: Феденко Антон Олегович, </a:t>
            </a:r>
          </a:p>
          <a:p>
            <a:r>
              <a:rPr lang="ru-RU" sz="1800" dirty="0">
                <a:solidFill>
                  <a:schemeClr val="tx1"/>
                </a:solidFill>
              </a:rPr>
              <a:t>Громов Владимир Алексеевич</a:t>
            </a:r>
          </a:p>
          <a:p>
            <a:r>
              <a:rPr lang="ru-RU" sz="1800" dirty="0">
                <a:solidFill>
                  <a:schemeClr val="tx1"/>
                </a:solidFill>
              </a:rPr>
              <a:t>Руководитель работы:</a:t>
            </a:r>
          </a:p>
          <a:p>
            <a:r>
              <a:rPr lang="ru-RU" sz="1800" dirty="0">
                <a:solidFill>
                  <a:schemeClr val="tx1"/>
                </a:solidFill>
              </a:rPr>
              <a:t>Беляев Игорь Сергеевич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00E2B-5CD4-BE56-5B60-B45558A8CC31}"/>
              </a:ext>
            </a:extLst>
          </p:cNvPr>
          <p:cNvSpPr txBox="1"/>
          <p:nvPr/>
        </p:nvSpPr>
        <p:spPr>
          <a:xfrm>
            <a:off x="1916706" y="306354"/>
            <a:ext cx="87961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Министерства науки и высшего образования Российской Федерации</a:t>
            </a:r>
            <a:br>
              <a:rPr lang="ru-RU" dirty="0"/>
            </a:br>
            <a:r>
              <a:rPr lang="ru-RU" dirty="0"/>
              <a:t>Федеральное государственное бюджетное образовательное учреждение высшего образования</a:t>
            </a:r>
          </a:p>
          <a:p>
            <a:pPr algn="ctr"/>
            <a:r>
              <a:rPr lang="ru-RU" dirty="0"/>
              <a:t>«Заполярный государственный университет им </a:t>
            </a:r>
            <a:r>
              <a:rPr lang="ru-RU" dirty="0" err="1"/>
              <a:t>Н.М.Федоровского</a:t>
            </a:r>
            <a:r>
              <a:rPr lang="ru-RU" dirty="0"/>
              <a:t>»</a:t>
            </a:r>
          </a:p>
          <a:p>
            <a:pPr algn="ctr"/>
            <a:r>
              <a:rPr lang="ru-RU" dirty="0"/>
              <a:t>Кафедра информационных систем и технологий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92E52-71D7-413E-F757-A3075FAD42C6}"/>
              </a:ext>
            </a:extLst>
          </p:cNvPr>
          <p:cNvSpPr txBox="1"/>
          <p:nvPr/>
        </p:nvSpPr>
        <p:spPr>
          <a:xfrm>
            <a:off x="5360240" y="6360114"/>
            <a:ext cx="1909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Норильск 2025</a:t>
            </a:r>
          </a:p>
        </p:txBody>
      </p:sp>
    </p:spTree>
    <p:extLst>
      <p:ext uri="{BB962C8B-B14F-4D97-AF65-F5344CB8AC3E}">
        <p14:creationId xmlns:p14="http://schemas.microsoft.com/office/powerpoint/2010/main" val="389798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7155" y="628650"/>
            <a:ext cx="3856037" cy="706435"/>
          </a:xfrm>
        </p:spPr>
        <p:txBody>
          <a:bodyPr/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125" y="1335085"/>
            <a:ext cx="6877050" cy="5010150"/>
          </a:xfrm>
        </p:spPr>
        <p:txBody>
          <a:bodyPr>
            <a:no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Разработка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-приложения для упрощения процесса передачи показаний счетчиков воды.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1.Спроектировать архитектуру приложения.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2.Реализовать клиентскую часть с использованием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3.Разработать серверную часть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4.Создать и настроить базу данных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5.Обеспечить авторизацию и работу с пользовательскими заявками.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6.Организовать хранение вложений через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MinIO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7.Обеспечить удобный интерфейс для пользователей и администраторов.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</a:t>
            </a:fld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E95C22-AFE5-48CC-B0D1-07F41E1AC6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400" y="1723748"/>
            <a:ext cx="3811385" cy="3810554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415340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6205" y="713582"/>
            <a:ext cx="3856037" cy="706435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56205" y="1658143"/>
            <a:ext cx="3856037" cy="3541714"/>
          </a:xfrm>
        </p:spPr>
        <p:txBody>
          <a:bodyPr>
            <a:normAutofit fontScale="92500"/>
          </a:bodyPr>
          <a:lstStyle/>
          <a:p>
            <a:r>
              <a:rPr lang="ru-RU" sz="2400" dirty="0"/>
              <a:t>В данной курсовой работе представлена разработка </a:t>
            </a:r>
            <a:r>
              <a:rPr lang="ru-RU" sz="2400" dirty="0" err="1"/>
              <a:t>web</a:t>
            </a:r>
            <a:r>
              <a:rPr lang="ru-RU" sz="2400" dirty="0"/>
              <a:t>-приложения, предназначенного для упрощения и систематизации процесса подачи и обработки заявок на передачу показаний водосчетчиков.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</a:t>
            </a:fld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D650C2-D8E6-4DA9-9232-9A307BC0D1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580" y="2422030"/>
            <a:ext cx="2990850" cy="2990850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3459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1430" y="654648"/>
            <a:ext cx="6292320" cy="635985"/>
          </a:xfrm>
        </p:spPr>
        <p:txBody>
          <a:bodyPr/>
          <a:lstStyle/>
          <a:p>
            <a:r>
              <a:rPr lang="ru-RU" dirty="0"/>
              <a:t>Анализ предметной области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15221" y="2108200"/>
            <a:ext cx="6199904" cy="4584700"/>
          </a:xfrm>
        </p:spPr>
        <p:txBody>
          <a:bodyPr>
            <a:noAutofit/>
          </a:bodyPr>
          <a:lstStyle/>
          <a:p>
            <a:r>
              <a:rPr lang="ru-RU" sz="2400" dirty="0"/>
              <a:t>Цифровизация экономики затронула все сферы нашей жизни, включая жилищно-коммунальные услуги. Люди всё чаще ожидают, что бытовые задачи, включая передачу показаний счётчиков воды, можно будет решить онлайн — быстро, удобно и безопасно. Рост цифровых сервисов в ЖКХ показывает, насколько велика потребность в автоматизированных решениях. </a:t>
            </a:r>
            <a:endParaRPr lang="ru-RU" sz="3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4</a:t>
            </a:fld>
            <a:endParaRPr lang="ru-RU" sz="4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3ADABD-9A4D-4903-A0E5-F76964AA2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016" y="2108200"/>
            <a:ext cx="4157024" cy="358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7958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5</a:t>
            </a:fld>
            <a:endParaRPr lang="ru-RU" sz="4800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76D92F1-61DF-4FC8-A697-E5910CAF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680" y="590550"/>
            <a:ext cx="9873719" cy="666750"/>
          </a:xfrm>
        </p:spPr>
        <p:txBody>
          <a:bodyPr>
            <a:normAutofit/>
          </a:bodyPr>
          <a:lstStyle/>
          <a:p>
            <a:r>
              <a:rPr lang="ru-RU" dirty="0"/>
              <a:t>Анализ предметной области </a:t>
            </a:r>
            <a:r>
              <a:rPr lang="en-US" dirty="0"/>
              <a:t>IDEF0 as-is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0A0E43-3BF7-43B6-9C83-C051B9BD7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9" y="1257300"/>
            <a:ext cx="10142972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6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6</a:t>
            </a:fld>
            <a:endParaRPr lang="ru-RU" sz="4800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76D92F1-61DF-4FC8-A697-E5910CAF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680" y="590550"/>
            <a:ext cx="9873719" cy="666750"/>
          </a:xfrm>
        </p:spPr>
        <p:txBody>
          <a:bodyPr>
            <a:normAutofit/>
          </a:bodyPr>
          <a:lstStyle/>
          <a:p>
            <a:r>
              <a:rPr lang="ru-RU" dirty="0"/>
              <a:t>Анализ предметной области </a:t>
            </a:r>
            <a:r>
              <a:rPr lang="en-US" dirty="0"/>
              <a:t>IDEF0 as-is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B13597-BF8A-4EFA-A377-758EDFA4B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" y="1257300"/>
            <a:ext cx="9873719" cy="533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4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7</a:t>
            </a:fld>
            <a:endParaRPr lang="ru-RU" sz="4800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76D92F1-61DF-4FC8-A697-E5910CAF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680" y="590550"/>
            <a:ext cx="9873719" cy="666750"/>
          </a:xfrm>
        </p:spPr>
        <p:txBody>
          <a:bodyPr>
            <a:normAutofit/>
          </a:bodyPr>
          <a:lstStyle/>
          <a:p>
            <a:r>
              <a:rPr lang="ru-RU" dirty="0"/>
              <a:t>Анализ предметной области </a:t>
            </a:r>
            <a:r>
              <a:rPr lang="en-US" dirty="0" err="1"/>
              <a:t>dfd</a:t>
            </a:r>
            <a:r>
              <a:rPr lang="en-US" dirty="0"/>
              <a:t> as-is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2EB0CE-AAF8-45F8-9099-0DB501C52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5" y="1257300"/>
            <a:ext cx="9803339" cy="537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81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8</a:t>
            </a:fld>
            <a:endParaRPr lang="ru-RU" sz="4800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76D92F1-61DF-4FC8-A697-E5910CAF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680" y="590550"/>
            <a:ext cx="9873719" cy="666750"/>
          </a:xfrm>
        </p:spPr>
        <p:txBody>
          <a:bodyPr>
            <a:normAutofit/>
          </a:bodyPr>
          <a:lstStyle/>
          <a:p>
            <a:r>
              <a:rPr lang="ru-RU" dirty="0"/>
              <a:t>Анализ предметной области </a:t>
            </a:r>
            <a:r>
              <a:rPr lang="en-US" dirty="0" err="1"/>
              <a:t>dfd</a:t>
            </a:r>
            <a:r>
              <a:rPr lang="en-US" dirty="0"/>
              <a:t> as-is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2464A3-6666-4595-BAD1-35DCC2704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257299"/>
            <a:ext cx="9873719" cy="547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7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056" y="600074"/>
            <a:ext cx="10518243" cy="657225"/>
          </a:xfrm>
        </p:spPr>
        <p:txBody>
          <a:bodyPr>
            <a:normAutofit/>
          </a:bodyPr>
          <a:lstStyle/>
          <a:p>
            <a:r>
              <a:rPr lang="ru-RU" dirty="0"/>
              <a:t>Анализ предметной области </a:t>
            </a:r>
            <a:r>
              <a:rPr lang="en-US" dirty="0"/>
              <a:t>IDEF0 to be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9</a:t>
            </a:fld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B438FF-F07D-44E9-BDEA-C0525B1B9D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5576" y="1257299"/>
            <a:ext cx="9988549" cy="541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1414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10</a:t>
            </a:fld>
            <a:endParaRPr lang="ru-RU" sz="48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AD2D84B-F94B-4093-9AB0-95D20C16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638172"/>
            <a:ext cx="10344150" cy="619125"/>
          </a:xfrm>
        </p:spPr>
        <p:txBody>
          <a:bodyPr>
            <a:normAutofit/>
          </a:bodyPr>
          <a:lstStyle/>
          <a:p>
            <a:r>
              <a:rPr lang="ru-RU" dirty="0"/>
              <a:t>Анализ предметной области </a:t>
            </a:r>
            <a:r>
              <a:rPr lang="en-US" dirty="0"/>
              <a:t>IDEF0 to be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4EF528-107F-4D67-BC02-BB9AE4E4AE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5725" y="1257296"/>
            <a:ext cx="10344150" cy="535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4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11</a:t>
            </a:fld>
            <a:endParaRPr lang="ru-RU" sz="4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E15D05-CE6E-4669-8852-B45D61226E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6210" y="1285875"/>
            <a:ext cx="10378439" cy="5097462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F6DAC9F-60A5-4598-9A16-0C47F7EB2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106" y="676275"/>
            <a:ext cx="10759544" cy="609600"/>
          </a:xfrm>
        </p:spPr>
        <p:txBody>
          <a:bodyPr>
            <a:normAutofit/>
          </a:bodyPr>
          <a:lstStyle/>
          <a:p>
            <a:r>
              <a:rPr lang="ru-RU" dirty="0"/>
              <a:t>Анализ предметной области </a:t>
            </a:r>
            <a:r>
              <a:rPr lang="en-US" dirty="0"/>
              <a:t>IDEF0 to be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021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12</a:t>
            </a:fld>
            <a:endParaRPr lang="ru-RU" sz="48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7558B3B-57D6-4D37-85FA-73283211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105" y="619124"/>
            <a:ext cx="10121369" cy="638175"/>
          </a:xfrm>
        </p:spPr>
        <p:txBody>
          <a:bodyPr>
            <a:normAutofit/>
          </a:bodyPr>
          <a:lstStyle/>
          <a:p>
            <a:r>
              <a:rPr lang="ru-RU" dirty="0"/>
              <a:t>Анализ предметной области </a:t>
            </a:r>
            <a:r>
              <a:rPr lang="en-US" dirty="0" err="1"/>
              <a:t>dfd</a:t>
            </a:r>
            <a:r>
              <a:rPr lang="en-US" dirty="0"/>
              <a:t> to be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44A623-DBD5-47A6-B3E5-3F6A53252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1257299"/>
            <a:ext cx="10334625" cy="534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79855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13</a:t>
            </a:fld>
            <a:endParaRPr lang="ru-RU" sz="4800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76D92F1-61DF-4FC8-A697-E5910CAF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680" y="590550"/>
            <a:ext cx="9873719" cy="666750"/>
          </a:xfrm>
        </p:spPr>
        <p:txBody>
          <a:bodyPr>
            <a:normAutofit/>
          </a:bodyPr>
          <a:lstStyle/>
          <a:p>
            <a:r>
              <a:rPr lang="ru-RU" dirty="0"/>
              <a:t>Анализ предметной области </a:t>
            </a:r>
            <a:r>
              <a:rPr lang="en-US" dirty="0" err="1"/>
              <a:t>dfd</a:t>
            </a:r>
            <a:r>
              <a:rPr lang="en-US" dirty="0"/>
              <a:t> to be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319937-253A-4F60-ADCC-49E7701C5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4" y="1257300"/>
            <a:ext cx="10039351" cy="545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5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055" y="534986"/>
            <a:ext cx="3856037" cy="715960"/>
          </a:xfrm>
        </p:spPr>
        <p:txBody>
          <a:bodyPr/>
          <a:lstStyle/>
          <a:p>
            <a:r>
              <a:rPr lang="ru-RU" dirty="0"/>
              <a:t>Патентный поиск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9054" y="1250946"/>
            <a:ext cx="3856037" cy="3541714"/>
          </a:xfrm>
        </p:spPr>
        <p:txBody>
          <a:bodyPr>
            <a:normAutofit fontScale="92500" lnSpcReduction="20000"/>
          </a:bodyPr>
          <a:lstStyle/>
          <a:p>
            <a:r>
              <a:rPr lang="ru-RU" sz="2400" dirty="0"/>
              <a:t>В рамках патентного анализа и выбора наилучших решений для реализации проекта в качестве ориентиров были использованы ведущие цифровые платформы, такие как официальный портал Мэра Москвы, система Мосводоканала и портал Госуслуги.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1077479" cy="803276"/>
          </a:xfrm>
        </p:spPr>
        <p:txBody>
          <a:bodyPr/>
          <a:lstStyle/>
          <a:p>
            <a:fld id="{5621C407-8EC4-4F8E-96E6-71BCBD5DBFF2}" type="slidenum">
              <a:rPr lang="ru-RU" sz="4800" smtClean="0"/>
              <a:t>14</a:t>
            </a:fld>
            <a:endParaRPr lang="ru-RU" sz="4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D7B8D3E-7D8C-4FCD-80CD-C20507655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581" y="764101"/>
            <a:ext cx="6388391" cy="4293674"/>
          </a:xfrm>
          <a:prstGeom prst="flowChartAlternateProcess">
            <a:avLst/>
          </a:prstGeom>
        </p:spPr>
      </p:pic>
    </p:spTree>
    <p:extLst>
      <p:ext uri="{BB962C8B-B14F-4D97-AF65-F5344CB8AC3E}">
        <p14:creationId xmlns:p14="http://schemas.microsoft.com/office/powerpoint/2010/main" val="143134380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7630" y="676275"/>
            <a:ext cx="3856037" cy="639760"/>
          </a:xfrm>
        </p:spPr>
        <p:txBody>
          <a:bodyPr/>
          <a:lstStyle/>
          <a:p>
            <a:r>
              <a:rPr lang="ru-RU" dirty="0"/>
              <a:t>Конкуренты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15</a:t>
            </a:fld>
            <a:endParaRPr lang="ru-RU" sz="48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3026DDF5-6CAC-4137-B6A9-7E43DAC66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151735"/>
              </p:ext>
            </p:extLst>
          </p:nvPr>
        </p:nvGraphicFramePr>
        <p:xfrm>
          <a:off x="247651" y="1298575"/>
          <a:ext cx="10334625" cy="53618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6925">
                  <a:extLst>
                    <a:ext uri="{9D8B030D-6E8A-4147-A177-3AD203B41FA5}">
                      <a16:colId xmlns:a16="http://schemas.microsoft.com/office/drawing/2014/main" val="4258863419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3223406378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3369598290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682295590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3169452008"/>
                    </a:ext>
                  </a:extLst>
                </a:gridCol>
              </a:tblGrid>
              <a:tr h="3459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Платформа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Официальный сайт Мэра Москвы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Мосводоканал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Госуслуги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METERS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extLst>
                  <a:ext uri="{0D108BD9-81ED-4DB2-BD59-A6C34878D82A}">
                    <a16:rowId xmlns:a16="http://schemas.microsoft.com/office/drawing/2014/main" val="234617772"/>
                  </a:ext>
                </a:extLst>
              </a:tr>
              <a:tr h="172146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Аудитория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млн установок приложения «Госуслуги Москвы»; 57% пользователей используют его регулярно.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Обслуживает Московский регион; точные данные о количестве пользователей не опубликованы.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112 млн зарегистрированных пользователей; ежедневная аудитория — более 11 млн человек.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Локализованный сервис с прицелом на реальные нужды пользователей ЖКХ; высокий процент активных пользователей благодаря простому и понятному интерфейсу.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extLst>
                  <a:ext uri="{0D108BD9-81ED-4DB2-BD59-A6C34878D82A}">
                    <a16:rowId xmlns:a16="http://schemas.microsoft.com/office/drawing/2014/main" val="1448912809"/>
                  </a:ext>
                </a:extLst>
              </a:tr>
              <a:tr h="9763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</a:t>
                      </a:r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инструменты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Базовые: автоматическая проверка показаний, напоминания.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Использование роботизированных систем для диагностики и мониторинга инфраструктуры.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Продвинутая аналитика: цифровой помощник «Робот Макс» обрабатывает до 1,5 млн запросов в день.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Интеллектуальная обработка данных: </a:t>
                      </a:r>
                      <a:r>
                        <a:rPr lang="ru-RU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автоопределение</a:t>
                      </a:r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аномальных значений.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extLst>
                  <a:ext uri="{0D108BD9-81ED-4DB2-BD59-A6C34878D82A}">
                    <a16:rowId xmlns:a16="http://schemas.microsoft.com/office/drawing/2014/main" val="1986767667"/>
                  </a:ext>
                </a:extLst>
              </a:tr>
              <a:tr h="1549516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Главный плюс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Широкий охват регионов и интеграция с городскими сервисами.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Мультиканальность: доступ через сайт, мобильное приложение и личный кабинет.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Технологичность: единая платформа для получения более 1,6 тыс. государственных услуг.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Узкая специализация: максимальное удобство именно для передачи показаний; простой UX/UI, быстрый отклик и минимум отвлекающих функций.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extLst>
                  <a:ext uri="{0D108BD9-81ED-4DB2-BD59-A6C34878D82A}">
                    <a16:rowId xmlns:a16="http://schemas.microsoft.com/office/drawing/2014/main" val="197412521"/>
                  </a:ext>
                </a:extLst>
              </a:tr>
              <a:tr h="747105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Ключевой минус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Жёсткие блокировки при попытке передачи некорректных данных.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Рост комиссий за некоторые услуги.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Ограниченная аналитика по сравнению с специализированными сервисами.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Отсутствуют перегрузки сервисов, нет посредников.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03" marR="1603" marT="1603" marB="0" anchor="ctr"/>
                </a:tc>
                <a:extLst>
                  <a:ext uri="{0D108BD9-81ED-4DB2-BD59-A6C34878D82A}">
                    <a16:rowId xmlns:a16="http://schemas.microsoft.com/office/drawing/2014/main" val="377560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46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8105" y="647700"/>
            <a:ext cx="3856037" cy="658810"/>
          </a:xfrm>
        </p:spPr>
        <p:txBody>
          <a:bodyPr/>
          <a:lstStyle/>
          <a:p>
            <a:r>
              <a:rPr lang="ru-RU" dirty="0"/>
              <a:t>Патентный поиск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16</a:t>
            </a:fld>
            <a:endParaRPr lang="ru-RU" sz="4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453E32C-C086-4117-ADFF-2DD464472F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89861" y="1561232"/>
            <a:ext cx="5408613" cy="406740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1B1AAEB-458D-4E4D-889B-ACD3032E29E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818996" y="1122360"/>
            <a:ext cx="2914650" cy="450627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F93066E-EE58-4AF0-8126-75F0072811E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1354135"/>
            <a:ext cx="2780030" cy="42745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323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255" y="636398"/>
            <a:ext cx="8254470" cy="668335"/>
          </a:xfrm>
        </p:spPr>
        <p:txBody>
          <a:bodyPr/>
          <a:lstStyle/>
          <a:p>
            <a:r>
              <a:rPr lang="ru-RU" dirty="0" err="1"/>
              <a:t>Стэк</a:t>
            </a:r>
            <a:r>
              <a:rPr lang="ru-RU" dirty="0"/>
              <a:t> используемых технологий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17</a:t>
            </a:fld>
            <a:endParaRPr lang="ru-RU" sz="4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306" y="1443829"/>
            <a:ext cx="3089275" cy="2214522"/>
          </a:xfrm>
          <a:prstGeom prst="flowChartAlternateProcess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065" y="3648001"/>
            <a:ext cx="4064511" cy="19079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E9FD02-0AE3-4E8C-8C61-F585202FA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79" y="1523734"/>
            <a:ext cx="3153215" cy="1905266"/>
          </a:xfrm>
          <a:prstGeom prst="flowChartAlternateProcess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EDD485-2243-4C91-9F0B-00934C6AB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179" y="4092316"/>
            <a:ext cx="2832625" cy="1241950"/>
          </a:xfrm>
          <a:prstGeom prst="flowChartAlternateProcess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FBA819-3BFF-440F-9F79-577616378F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058" y="1560204"/>
            <a:ext cx="3286584" cy="1219370"/>
          </a:xfrm>
          <a:prstGeom prst="flowChartAlternateProcess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20435F-682A-42AE-8AB6-D429030298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0787" y="3975364"/>
            <a:ext cx="3433321" cy="1473945"/>
          </a:xfrm>
          <a:prstGeom prst="flowChartAlternateProcess">
            <a:avLst/>
          </a:prstGeom>
        </p:spPr>
      </p:pic>
    </p:spTree>
    <p:extLst>
      <p:ext uri="{BB962C8B-B14F-4D97-AF65-F5344CB8AC3E}">
        <p14:creationId xmlns:p14="http://schemas.microsoft.com/office/powerpoint/2010/main" val="74717709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8105" y="666749"/>
            <a:ext cx="3856037" cy="573085"/>
          </a:xfrm>
        </p:spPr>
        <p:txBody>
          <a:bodyPr/>
          <a:lstStyle/>
          <a:p>
            <a:r>
              <a:rPr lang="en-US" dirty="0"/>
              <a:t>ER </a:t>
            </a:r>
            <a:r>
              <a:rPr lang="ru-RU" dirty="0"/>
              <a:t>диаграмма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18</a:t>
            </a:fld>
            <a:endParaRPr lang="ru-RU" sz="4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BF69C6-7454-4386-A9C4-9A0A7D28F7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4365" y="1239834"/>
            <a:ext cx="10111956" cy="535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40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7630" y="638175"/>
            <a:ext cx="8673570" cy="620710"/>
          </a:xfrm>
        </p:spPr>
        <p:txBody>
          <a:bodyPr/>
          <a:lstStyle/>
          <a:p>
            <a:r>
              <a:rPr lang="ru-RU" dirty="0"/>
              <a:t>Концептуальная модель базы данных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19</a:t>
            </a:fld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EE7C01-7BA2-4684-B121-0E5C15B015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233" y="1258885"/>
            <a:ext cx="10225088" cy="532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0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9530" y="628649"/>
            <a:ext cx="7454370" cy="630235"/>
          </a:xfrm>
        </p:spPr>
        <p:txBody>
          <a:bodyPr/>
          <a:lstStyle/>
          <a:p>
            <a:r>
              <a:rPr lang="ru-RU" dirty="0"/>
              <a:t>Логическая модель базы данных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20</a:t>
            </a:fld>
            <a:endParaRPr lang="ru-RU" sz="4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C86185-6601-4DD4-B01B-1FCD436900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7476" y="1258884"/>
            <a:ext cx="10045700" cy="483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5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9530" y="685799"/>
            <a:ext cx="7949670" cy="592135"/>
          </a:xfrm>
        </p:spPr>
        <p:txBody>
          <a:bodyPr/>
          <a:lstStyle/>
          <a:p>
            <a:r>
              <a:rPr lang="ru-RU" dirty="0"/>
              <a:t>Физическая модель базы данных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21</a:t>
            </a:fld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F01549-E63A-4E99-AB9B-3D203110F3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1925" y="1277934"/>
            <a:ext cx="10544175" cy="489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93291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9530" y="657225"/>
            <a:ext cx="3856037" cy="601660"/>
          </a:xfrm>
        </p:spPr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7" name="Текст 3"/>
          <p:cNvSpPr>
            <a:spLocks noGrp="1"/>
          </p:cNvSpPr>
          <p:nvPr>
            <p:ph type="body" sz="half" idx="2"/>
          </p:nvPr>
        </p:nvSpPr>
        <p:spPr>
          <a:xfrm>
            <a:off x="170470" y="2392733"/>
            <a:ext cx="2647078" cy="1249889"/>
          </a:xfrm>
        </p:spPr>
        <p:txBody>
          <a:bodyPr>
            <a:normAutofit/>
          </a:bodyPr>
          <a:lstStyle/>
          <a:p>
            <a:r>
              <a:rPr lang="ru-RU" sz="2400" dirty="0"/>
              <a:t>Диаграмма развёртывания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22</a:t>
            </a:fld>
            <a:endParaRPr lang="ru-RU" sz="4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5B56297-353E-4A36-9903-00A954874AA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548" y="1514313"/>
            <a:ext cx="6682740" cy="43689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35028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3994" y="695325"/>
            <a:ext cx="3367804" cy="624492"/>
          </a:xfrm>
        </p:spPr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7" name="Текст 3"/>
          <p:cNvSpPr>
            <a:spLocks noGrp="1"/>
          </p:cNvSpPr>
          <p:nvPr>
            <p:ph type="body" sz="half" idx="2"/>
          </p:nvPr>
        </p:nvSpPr>
        <p:spPr>
          <a:xfrm>
            <a:off x="124697" y="2493945"/>
            <a:ext cx="2647078" cy="1249889"/>
          </a:xfrm>
        </p:spPr>
        <p:txBody>
          <a:bodyPr>
            <a:normAutofit/>
          </a:bodyPr>
          <a:lstStyle/>
          <a:p>
            <a:r>
              <a:rPr lang="ru-RU" sz="2400" dirty="0"/>
              <a:t>Диаграмма прецедентов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23</a:t>
            </a:fld>
            <a:endParaRPr lang="ru-RU" sz="4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07DE3D8-59E1-465C-A0C8-85F6151BA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56" y="1682398"/>
            <a:ext cx="3543795" cy="470093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594DAAD-5C5E-4489-9FDA-D6092EA80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821" y="1001954"/>
            <a:ext cx="3197679" cy="242704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F4C5A64-A1BB-488B-B74D-D15367344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822" y="3743834"/>
            <a:ext cx="3214928" cy="259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8503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9481" y="527947"/>
            <a:ext cx="3856037" cy="763585"/>
          </a:xfrm>
        </p:spPr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7" name="Текст 3"/>
          <p:cNvSpPr>
            <a:spLocks noGrp="1"/>
          </p:cNvSpPr>
          <p:nvPr>
            <p:ph type="body" sz="half" idx="2"/>
          </p:nvPr>
        </p:nvSpPr>
        <p:spPr>
          <a:xfrm>
            <a:off x="210421" y="2449883"/>
            <a:ext cx="2647078" cy="1249889"/>
          </a:xfrm>
        </p:spPr>
        <p:txBody>
          <a:bodyPr>
            <a:normAutofit/>
          </a:bodyPr>
          <a:lstStyle/>
          <a:p>
            <a:r>
              <a:rPr lang="ru-RU" sz="2400" dirty="0"/>
              <a:t>Диаграмма деятельности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24</a:t>
            </a:fld>
            <a:endParaRPr lang="ru-RU" sz="4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370FFB-3123-47F8-9180-E7772F4607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28876" y="1291532"/>
            <a:ext cx="8486774" cy="450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7936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8105" y="619124"/>
            <a:ext cx="3856037" cy="687385"/>
          </a:xfrm>
        </p:spPr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7" name="Текст 3"/>
          <p:cNvSpPr>
            <a:spLocks noGrp="1"/>
          </p:cNvSpPr>
          <p:nvPr>
            <p:ph type="body" sz="half" idx="2"/>
          </p:nvPr>
        </p:nvSpPr>
        <p:spPr>
          <a:xfrm>
            <a:off x="199045" y="2503858"/>
            <a:ext cx="2647078" cy="1249889"/>
          </a:xfrm>
        </p:spPr>
        <p:txBody>
          <a:bodyPr>
            <a:normAutofit/>
          </a:bodyPr>
          <a:lstStyle/>
          <a:p>
            <a:r>
              <a:rPr lang="ru-RU" sz="2400" dirty="0"/>
              <a:t>Диаграмма классов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25</a:t>
            </a:fld>
            <a:endParaRPr lang="ru-RU" sz="4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65FA74-83B2-4F24-B1A5-8D712F8FED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725" y="1550669"/>
            <a:ext cx="7904596" cy="48326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015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7" name="Текст 3"/>
          <p:cNvSpPr>
            <a:spLocks noGrp="1"/>
          </p:cNvSpPr>
          <p:nvPr>
            <p:ph type="body" sz="half" idx="2"/>
          </p:nvPr>
        </p:nvSpPr>
        <p:spPr>
          <a:xfrm>
            <a:off x="439022" y="3751633"/>
            <a:ext cx="2647078" cy="1249889"/>
          </a:xfrm>
        </p:spPr>
        <p:txBody>
          <a:bodyPr>
            <a:normAutofit fontScale="92500"/>
          </a:bodyPr>
          <a:lstStyle/>
          <a:p>
            <a:r>
              <a:rPr lang="ru-RU" sz="2400" dirty="0"/>
              <a:t>Диаграмма классов</a:t>
            </a:r>
          </a:p>
          <a:p>
            <a:r>
              <a:rPr lang="ru-RU" sz="2400" dirty="0" err="1"/>
              <a:t>фронтенда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26</a:t>
            </a:fld>
            <a:endParaRPr lang="ru-RU" sz="4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DB77975-6EEA-4ED3-8F0D-F26D4F5F14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2052477"/>
            <a:ext cx="7082790" cy="46054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78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7630" y="590549"/>
            <a:ext cx="3856037" cy="668335"/>
          </a:xfrm>
        </p:spPr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7" name="Текст 3"/>
          <p:cNvSpPr>
            <a:spLocks noGrp="1"/>
          </p:cNvSpPr>
          <p:nvPr>
            <p:ph type="body" sz="half" idx="2"/>
          </p:nvPr>
        </p:nvSpPr>
        <p:spPr>
          <a:xfrm>
            <a:off x="67547" y="2589583"/>
            <a:ext cx="3142378" cy="1896692"/>
          </a:xfrm>
        </p:spPr>
        <p:txBody>
          <a:bodyPr>
            <a:normAutofit/>
          </a:bodyPr>
          <a:lstStyle/>
          <a:p>
            <a:r>
              <a:rPr lang="ru-RU" sz="2400" dirty="0"/>
              <a:t>Диаграмма последовательности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27</a:t>
            </a:fld>
            <a:endParaRPr lang="ru-RU" sz="4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A5CA3EE-F814-45B0-8737-B82F272B82C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5" y="1258884"/>
            <a:ext cx="7635268" cy="4752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297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580" y="600075"/>
            <a:ext cx="3856037" cy="677860"/>
          </a:xfrm>
        </p:spPr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7" name="Текст 3"/>
          <p:cNvSpPr>
            <a:spLocks noGrp="1"/>
          </p:cNvSpPr>
          <p:nvPr>
            <p:ph type="body" sz="half" idx="2"/>
          </p:nvPr>
        </p:nvSpPr>
        <p:spPr>
          <a:xfrm>
            <a:off x="67547" y="2589583"/>
            <a:ext cx="3142378" cy="1896692"/>
          </a:xfrm>
        </p:spPr>
        <p:txBody>
          <a:bodyPr>
            <a:normAutofit/>
          </a:bodyPr>
          <a:lstStyle/>
          <a:p>
            <a:r>
              <a:rPr lang="ru-RU" sz="2400" dirty="0"/>
              <a:t>Инфологическая модель базы данных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28</a:t>
            </a:fld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1FA8D1-08FC-4DB0-AC05-CFF4C8957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621" y="1277935"/>
            <a:ext cx="5115329" cy="491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8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580" y="609602"/>
            <a:ext cx="3856037" cy="649285"/>
          </a:xfrm>
        </p:spPr>
        <p:txBody>
          <a:bodyPr/>
          <a:lstStyle/>
          <a:p>
            <a:r>
              <a:rPr lang="ru-RU" dirty="0"/>
              <a:t>Сайт на </a:t>
            </a:r>
            <a:r>
              <a:rPr lang="en-US" dirty="0"/>
              <a:t>Figma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80EA4F2-62CD-45B2-8363-AADA75849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29</a:t>
            </a:fld>
            <a:endParaRPr lang="ru-RU" sz="4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4C529EA-7D86-4517-9BD8-D66760231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05" y="1350961"/>
            <a:ext cx="9278450" cy="453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47768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9530" y="616708"/>
            <a:ext cx="3856037" cy="706435"/>
          </a:xfrm>
        </p:spPr>
        <p:txBody>
          <a:bodyPr/>
          <a:lstStyle/>
          <a:p>
            <a:r>
              <a:rPr lang="ru-RU" dirty="0"/>
              <a:t>Сайт на </a:t>
            </a:r>
            <a:r>
              <a:rPr lang="en-US" dirty="0"/>
              <a:t>Figma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80EA4F2-62CD-45B2-8363-AADA75849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30</a:t>
            </a:fld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740519-E83F-4FD3-AC55-74EF02BC3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08" y="1323143"/>
            <a:ext cx="10219817" cy="465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03306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8105" y="647700"/>
            <a:ext cx="7120995" cy="620709"/>
          </a:xfrm>
        </p:spPr>
        <p:txBody>
          <a:bodyPr/>
          <a:lstStyle/>
          <a:p>
            <a:r>
              <a:rPr lang="ru-RU" dirty="0" err="1"/>
              <a:t>Фронтенд</a:t>
            </a:r>
            <a:r>
              <a:rPr lang="ru-RU" dirty="0"/>
              <a:t> часть приложения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31</a:t>
            </a:fld>
            <a:endParaRPr lang="ru-RU" sz="4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9F1E27-9D24-47B2-8D58-85B51D92D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254" y="1378311"/>
            <a:ext cx="6362820" cy="389395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4F86D14-2347-426C-8D59-F5EC6EC0A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6" y="1378312"/>
            <a:ext cx="5467918" cy="389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36757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0480" y="581024"/>
            <a:ext cx="6930495" cy="687385"/>
          </a:xfrm>
        </p:spPr>
        <p:txBody>
          <a:bodyPr/>
          <a:lstStyle/>
          <a:p>
            <a:r>
              <a:rPr lang="ru-RU" dirty="0" err="1"/>
              <a:t>Фронтенд</a:t>
            </a:r>
            <a:r>
              <a:rPr lang="ru-RU" dirty="0"/>
              <a:t> часть приложения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32</a:t>
            </a:fld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A11E5B-5B15-4E2D-BDC7-C894C9669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410568"/>
            <a:ext cx="9613859" cy="441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88433"/>
      </p:ext>
    </p:extLst>
  </p:cSld>
  <p:clrMapOvr>
    <a:masterClrMapping/>
  </p:clrMapOvr>
  <p:transition spd="med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8105" y="666750"/>
            <a:ext cx="5749395" cy="582610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Фронтенд</a:t>
            </a:r>
            <a:r>
              <a:rPr lang="ru-RU" dirty="0"/>
              <a:t> часть приложения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33</a:t>
            </a:fld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9B4CA8-DBAC-40E7-854E-048B7A349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1249360"/>
            <a:ext cx="9488799" cy="443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85178"/>
      </p:ext>
    </p:extLst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580" y="666749"/>
            <a:ext cx="5723819" cy="573085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Фронтенд</a:t>
            </a:r>
            <a:r>
              <a:rPr lang="ru-RU" dirty="0"/>
              <a:t> часть приложения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34</a:t>
            </a:fld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057E81-270B-4723-B8C9-FF2BA3C3B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79" y="1267206"/>
            <a:ext cx="6506820" cy="447357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005A17-DFDB-4A49-9E22-29F24995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595" y="1267206"/>
            <a:ext cx="5157280" cy="447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41600"/>
      </p:ext>
    </p:extLst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055" y="752474"/>
            <a:ext cx="6187545" cy="496885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Фронтенд</a:t>
            </a:r>
            <a:r>
              <a:rPr lang="ru-RU" dirty="0"/>
              <a:t> часть приложения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35</a:t>
            </a:fld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F876F3-B05B-4CC2-A6E7-79FA9AA61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4" y="1304198"/>
            <a:ext cx="10258426" cy="457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29702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9530" y="761999"/>
            <a:ext cx="6511395" cy="534985"/>
          </a:xfrm>
        </p:spPr>
        <p:txBody>
          <a:bodyPr>
            <a:normAutofit/>
          </a:bodyPr>
          <a:lstStyle/>
          <a:p>
            <a:r>
              <a:rPr lang="ru-RU" dirty="0" err="1"/>
              <a:t>Фронтенд</a:t>
            </a:r>
            <a:r>
              <a:rPr lang="ru-RU" dirty="0"/>
              <a:t> часть приложения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36</a:t>
            </a:fld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A9A974-0EF9-4501-A6D9-E8F8849CB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296984"/>
            <a:ext cx="10420350" cy="519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06431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0480" y="657224"/>
            <a:ext cx="7635345" cy="630235"/>
          </a:xfrm>
        </p:spPr>
        <p:txBody>
          <a:bodyPr/>
          <a:lstStyle/>
          <a:p>
            <a:r>
              <a:rPr lang="ru-RU" dirty="0" err="1"/>
              <a:t>Фронтенд</a:t>
            </a:r>
            <a:r>
              <a:rPr lang="ru-RU" dirty="0"/>
              <a:t> часть приложения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37</a:t>
            </a:fld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B3B219-A662-4B7F-81D0-07BE37483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4" y="1287459"/>
            <a:ext cx="10567531" cy="463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93570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055" y="695325"/>
            <a:ext cx="6501870" cy="582610"/>
          </a:xfrm>
        </p:spPr>
        <p:txBody>
          <a:bodyPr/>
          <a:lstStyle/>
          <a:p>
            <a:r>
              <a:rPr lang="ru-RU" dirty="0" err="1"/>
              <a:t>Фронтенд</a:t>
            </a:r>
            <a:r>
              <a:rPr lang="ru-RU" dirty="0"/>
              <a:t> часть приложения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38</a:t>
            </a:fld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E68D44-F3D6-4F76-B9BD-1300FDFA8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3" y="1277935"/>
            <a:ext cx="9644062" cy="534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193413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7630" y="638175"/>
            <a:ext cx="6911445" cy="620710"/>
          </a:xfrm>
        </p:spPr>
        <p:txBody>
          <a:bodyPr/>
          <a:lstStyle/>
          <a:p>
            <a:r>
              <a:rPr lang="ru-RU" dirty="0" err="1"/>
              <a:t>Фронтенд</a:t>
            </a:r>
            <a:r>
              <a:rPr lang="ru-RU" dirty="0"/>
              <a:t> часть приложения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39</a:t>
            </a:fld>
            <a:endParaRPr lang="ru-RU"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A37D8A-5A18-43B4-9E11-557799576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39" y="1258885"/>
            <a:ext cx="9999761" cy="519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49744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8105" y="800099"/>
            <a:ext cx="7972425" cy="477835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Фронтенд</a:t>
            </a:r>
            <a:r>
              <a:rPr lang="ru-RU" dirty="0"/>
              <a:t> часть приложения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40</a:t>
            </a:fld>
            <a:endParaRPr lang="ru-RU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A7B8CE-414C-4AA4-8BA1-F55DE328F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55" y="1175635"/>
            <a:ext cx="9346370" cy="551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97039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8580" y="590550"/>
            <a:ext cx="3856037" cy="677860"/>
          </a:xfrm>
        </p:spPr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7324" y="1149350"/>
            <a:ext cx="11229975" cy="4975225"/>
          </a:xfrm>
        </p:spPr>
        <p:txBody>
          <a:bodyPr>
            <a:noAutofit/>
          </a:bodyPr>
          <a:lstStyle/>
          <a:p>
            <a:r>
              <a:rPr lang="ru-RU" sz="1400" dirty="0"/>
              <a:t>Поставленная цель — создать </a:t>
            </a:r>
            <a:r>
              <a:rPr lang="ru-RU" sz="1400" dirty="0" err="1"/>
              <a:t>web</a:t>
            </a:r>
            <a:r>
              <a:rPr lang="ru-RU" sz="1400" dirty="0"/>
              <a:t>-приложение, упрощающее передачу показаний счётчиков воды, — достигнута.</a:t>
            </a:r>
          </a:p>
          <a:p>
            <a:endParaRPr lang="ru-RU" sz="1400" dirty="0"/>
          </a:p>
          <a:p>
            <a:r>
              <a:rPr lang="ru-RU" sz="1400" dirty="0"/>
              <a:t>Выполненные задачи</a:t>
            </a:r>
          </a:p>
          <a:p>
            <a:endParaRPr lang="ru-RU" sz="1400" dirty="0"/>
          </a:p>
          <a:p>
            <a:r>
              <a:rPr lang="ru-RU" sz="1400" dirty="0"/>
              <a:t>1. Спроектирована архитектура системы.</a:t>
            </a:r>
          </a:p>
          <a:p>
            <a:r>
              <a:rPr lang="ru-RU" sz="1400" dirty="0"/>
              <a:t>2. Реализован </a:t>
            </a:r>
            <a:r>
              <a:rPr lang="ru-RU" sz="1400" dirty="0" err="1"/>
              <a:t>фронтенд</a:t>
            </a:r>
            <a:r>
              <a:rPr lang="ru-RU" sz="1400" dirty="0"/>
              <a:t> на </a:t>
            </a:r>
            <a:r>
              <a:rPr lang="ru-RU" sz="1400" dirty="0" err="1"/>
              <a:t>React</a:t>
            </a:r>
            <a:r>
              <a:rPr lang="ru-RU" sz="1400" dirty="0"/>
              <a:t> + </a:t>
            </a:r>
            <a:r>
              <a:rPr lang="ru-RU" sz="1400" dirty="0" err="1"/>
              <a:t>Vite</a:t>
            </a:r>
            <a:r>
              <a:rPr lang="ru-RU" sz="1400" dirty="0"/>
              <a:t>.</a:t>
            </a:r>
          </a:p>
          <a:p>
            <a:r>
              <a:rPr lang="ru-RU" sz="1400" dirty="0"/>
              <a:t>3. Создан </a:t>
            </a:r>
            <a:r>
              <a:rPr lang="ru-RU" sz="1400" dirty="0" err="1"/>
              <a:t>бекенд</a:t>
            </a:r>
            <a:r>
              <a:rPr lang="ru-RU" sz="1400" dirty="0"/>
              <a:t> на </a:t>
            </a:r>
            <a:r>
              <a:rPr lang="ru-RU" sz="1400" dirty="0" err="1"/>
              <a:t>Django</a:t>
            </a:r>
            <a:r>
              <a:rPr lang="ru-RU" sz="1400" dirty="0"/>
              <a:t>.</a:t>
            </a:r>
          </a:p>
          <a:p>
            <a:r>
              <a:rPr lang="ru-RU" sz="1400" dirty="0"/>
              <a:t>4. Разработана и настроена база данных </a:t>
            </a:r>
            <a:r>
              <a:rPr lang="ru-RU" sz="1400" dirty="0" err="1"/>
              <a:t>PostgreSQL</a:t>
            </a:r>
            <a:r>
              <a:rPr lang="ru-RU" sz="1400" dirty="0"/>
              <a:t>.</a:t>
            </a:r>
          </a:p>
          <a:p>
            <a:r>
              <a:rPr lang="ru-RU" sz="1400" dirty="0"/>
              <a:t>5. Внедрены авторизация и механизм работы с пользовательскими заявками.</a:t>
            </a:r>
          </a:p>
          <a:p>
            <a:r>
              <a:rPr lang="ru-RU" sz="1400" dirty="0"/>
              <a:t>6. Организовано хранение вложений через </a:t>
            </a:r>
            <a:r>
              <a:rPr lang="ru-RU" sz="1400" dirty="0" err="1"/>
              <a:t>MinIO</a:t>
            </a:r>
            <a:r>
              <a:rPr lang="ru-RU" sz="1400" dirty="0"/>
              <a:t>.</a:t>
            </a:r>
          </a:p>
          <a:p>
            <a:r>
              <a:rPr lang="ru-RU" sz="1400" dirty="0"/>
              <a:t>7. Обеспечен удобный интерфейс как для пользователей, так и для администраторов.</a:t>
            </a:r>
          </a:p>
          <a:p>
            <a:endParaRPr lang="ru-RU" sz="1400" dirty="0"/>
          </a:p>
          <a:p>
            <a:r>
              <a:rPr lang="ru-RU" sz="1400" dirty="0"/>
              <a:t>Таким образом, все задачи успешно реализованы, что подтверждает достижение цели курсовой работы.</a:t>
            </a:r>
          </a:p>
          <a:p>
            <a:endParaRPr lang="ru-RU" sz="1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41</a:t>
            </a:fld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3161131386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005" y="1104900"/>
            <a:ext cx="9129616" cy="2428874"/>
          </a:xfrm>
        </p:spPr>
        <p:txBody>
          <a:bodyPr>
            <a:noAutofit/>
          </a:bodyPr>
          <a:lstStyle/>
          <a:p>
            <a:r>
              <a:rPr lang="ru-RU" sz="7200" dirty="0"/>
              <a:t>Спасибо за внимание!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1C407-8EC4-4F8E-96E6-71BCBD5DBFF2}" type="slidenum">
              <a:rPr lang="ru-RU" sz="4800" smtClean="0"/>
              <a:t>42</a:t>
            </a:fld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36483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1210</TotalTime>
  <Words>734</Words>
  <Application>Microsoft Office PowerPoint</Application>
  <PresentationFormat>Широкоэкранный</PresentationFormat>
  <Paragraphs>151</Paragraphs>
  <Slides>42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7" baseType="lpstr">
      <vt:lpstr>Arial</vt:lpstr>
      <vt:lpstr>Calibri</vt:lpstr>
      <vt:lpstr>Times New Roman</vt:lpstr>
      <vt:lpstr>Tw Cen MT</vt:lpstr>
      <vt:lpstr>Контур</vt:lpstr>
      <vt:lpstr>Тема: разработка веб-приложения «Water Meters»</vt:lpstr>
      <vt:lpstr>Цель и задачи</vt:lpstr>
      <vt:lpstr>Введение</vt:lpstr>
      <vt:lpstr>Анализ предметной области</vt:lpstr>
      <vt:lpstr>Анализ предметной области IDEF0 as-is</vt:lpstr>
      <vt:lpstr>Анализ предметной области IDEF0 as-is</vt:lpstr>
      <vt:lpstr>Анализ предметной области dfd as-is</vt:lpstr>
      <vt:lpstr>Анализ предметной области dfd as-is</vt:lpstr>
      <vt:lpstr>Анализ предметной области IDEF0 to be</vt:lpstr>
      <vt:lpstr>Анализ предметной области IDEF0 to be</vt:lpstr>
      <vt:lpstr>Анализ предметной области IDEF0 to be</vt:lpstr>
      <vt:lpstr>Анализ предметной области dfd to be</vt:lpstr>
      <vt:lpstr>Анализ предметной области dfd to be</vt:lpstr>
      <vt:lpstr>Патентный поиск</vt:lpstr>
      <vt:lpstr>Конкуренты</vt:lpstr>
      <vt:lpstr>Патентный поиск</vt:lpstr>
      <vt:lpstr>Стэк используемых технологий</vt:lpstr>
      <vt:lpstr>ER диаграмма</vt:lpstr>
      <vt:lpstr>Концептуальная модель базы данных</vt:lpstr>
      <vt:lpstr>Логическая модель базы данных</vt:lpstr>
      <vt:lpstr>Физическая модель базы данных</vt:lpstr>
      <vt:lpstr>Архитектура</vt:lpstr>
      <vt:lpstr>Архитектура</vt:lpstr>
      <vt:lpstr>Архитектура</vt:lpstr>
      <vt:lpstr>Архитектура</vt:lpstr>
      <vt:lpstr>Архитектура</vt:lpstr>
      <vt:lpstr>Архитектура</vt:lpstr>
      <vt:lpstr>Архитектура</vt:lpstr>
      <vt:lpstr>Сайт на Figma</vt:lpstr>
      <vt:lpstr>Сайт на Figma</vt:lpstr>
      <vt:lpstr>Фронтенд часть приложения</vt:lpstr>
      <vt:lpstr>Фронтенд часть приложения</vt:lpstr>
      <vt:lpstr>Фронтенд часть приложения</vt:lpstr>
      <vt:lpstr>Фронтенд часть приложения</vt:lpstr>
      <vt:lpstr>Фронтенд часть приложения</vt:lpstr>
      <vt:lpstr>Фронтенд часть приложения</vt:lpstr>
      <vt:lpstr>Фронтенд часть приложения</vt:lpstr>
      <vt:lpstr>Фронтенд часть приложения</vt:lpstr>
      <vt:lpstr>Фронтенд часть приложения</vt:lpstr>
      <vt:lpstr>Фронтенд часть приложения</vt:lpstr>
      <vt:lpstr>Итоги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разработка веб-приложения «Маркетплейс»</dc:title>
  <dc:creator>Ilia Zaharov</dc:creator>
  <cp:lastModifiedBy>Павел Криворучко</cp:lastModifiedBy>
  <cp:revision>51</cp:revision>
  <dcterms:created xsi:type="dcterms:W3CDTF">2025-06-05T16:36:15Z</dcterms:created>
  <dcterms:modified xsi:type="dcterms:W3CDTF">2025-06-08T16:13:53Z</dcterms:modified>
</cp:coreProperties>
</file>