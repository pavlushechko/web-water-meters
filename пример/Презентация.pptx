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58" r:id="rId10"/>
    <p:sldId id="259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EB6DC-0018-4909-AD4C-1792ED74D983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7AC7B-AA41-4D6E-8CE9-F964AFB91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8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135A0-A376-4A31-9CF9-4B1361C4F569}" type="datetime1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45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C78A3-0103-48F3-8A9F-260EC1129FBA}" type="datetime1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45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792B4-7CE5-48F7-A07C-20F4B999933D}" type="datetime1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51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E0AF6-5C40-4191-8D00-0AB236FD699B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62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162F-1038-49C5-81C8-5195FABD22BD}" type="datetime1">
              <a:rPr lang="ru-RU" smtClean="0"/>
              <a:t>05.06.2025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82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2934-7EDC-4882-ADD6-CFA073FE0888}" type="datetime1">
              <a:rPr lang="ru-RU" smtClean="0"/>
              <a:t>05.06.2025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8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077C-4B89-4512-95EA-919AA3B4FE77}" type="datetime1">
              <a:rPr lang="ru-RU" smtClean="0"/>
              <a:t>05.06.2025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90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B6DD-ABAB-4C20-9D12-D8426001AA3E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00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2FE8-57B6-480F-A2DF-5AE051FEEE26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56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C8A7-D9BD-4570-BD15-D4D1BB8BD3ED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72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A1B8-F9CC-4D1A-9FE3-A00393E1EA11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630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B19-EE4D-45B4-A298-6EBE79A8EB76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1388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64D-E627-440C-968B-7B5EFECE7292}" type="datetime1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236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830C-A745-432D-97D9-DEC41746D4D8}" type="datetime1">
              <a:rPr lang="ru-RU" smtClean="0"/>
              <a:t>05.06.2025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33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6DC1-6E59-41CA-8489-9EDE981AC623}" type="datetime1">
              <a:rPr lang="ru-RU" smtClean="0"/>
              <a:t>05.06.2025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120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B61E-9B3D-4685-ADE5-A52FEDF7F434}" type="datetime1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0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AFC16BA2-FF1A-408B-9BB7-F7CA7101C621}" type="datetime1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91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DE5FF-FFBA-4C9C-8585-2372ADA7836A}" type="datetime1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6312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 smtClean="0"/>
              <a:t>Тема: разработка веб-приложения «</a:t>
            </a:r>
            <a:r>
              <a:rPr lang="ru-RU" sz="4400" dirty="0" err="1" smtClean="0"/>
              <a:t>Маркетплейс</a:t>
            </a:r>
            <a:r>
              <a:rPr lang="ru-RU" sz="4400" dirty="0" smtClean="0"/>
              <a:t>»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Работу выполнил студент группы ИС-22:</a:t>
            </a:r>
          </a:p>
          <a:p>
            <a:r>
              <a:rPr lang="ru-RU" dirty="0" smtClean="0"/>
              <a:t>Захаров Илья Сергеевич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00E2B-5CD4-BE56-5B60-B45558A8CC31}"/>
              </a:ext>
            </a:extLst>
          </p:cNvPr>
          <p:cNvSpPr txBox="1"/>
          <p:nvPr/>
        </p:nvSpPr>
        <p:spPr>
          <a:xfrm>
            <a:off x="1916706" y="306354"/>
            <a:ext cx="8796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ФГБОУ ВО «Заполярный государственный университет» им. Н.М. Федоровского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74040-14C4-D2E6-8FC0-C94A2D02FE3D}"/>
              </a:ext>
            </a:extLst>
          </p:cNvPr>
          <p:cNvSpPr txBox="1"/>
          <p:nvPr/>
        </p:nvSpPr>
        <p:spPr>
          <a:xfrm>
            <a:off x="3523698" y="675686"/>
            <a:ext cx="5582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кафедра информационных систем и технологий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92E52-71D7-413E-F757-A3075FAD42C6}"/>
              </a:ext>
            </a:extLst>
          </p:cNvPr>
          <p:cNvSpPr txBox="1"/>
          <p:nvPr/>
        </p:nvSpPr>
        <p:spPr>
          <a:xfrm>
            <a:off x="5360240" y="6360114"/>
            <a:ext cx="190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Норильск 2024</a:t>
            </a:r>
          </a:p>
        </p:txBody>
      </p:sp>
    </p:spTree>
    <p:extLst>
      <p:ext uri="{BB962C8B-B14F-4D97-AF65-F5344CB8AC3E}">
        <p14:creationId xmlns:p14="http://schemas.microsoft.com/office/powerpoint/2010/main" val="389798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542" y="2828139"/>
            <a:ext cx="5608638" cy="26167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39700" stA="34000" endPos="13000" dist="101600" dir="5400000" sy="-100000" algn="bl" rotWithShape="0"/>
          </a:effectLst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данной курсовой работе представлена разработка </a:t>
            </a:r>
            <a:r>
              <a:rPr lang="en-US" sz="2400" dirty="0"/>
              <a:t>web</a:t>
            </a:r>
            <a:r>
              <a:rPr lang="ru-RU" sz="2400" dirty="0"/>
              <a:t>-приложения, призванного упростить и систематизировать процесс подачи и обработки заявок на покупку того или иного товара.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</a:t>
            </a:fld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4599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15222" y="2108200"/>
            <a:ext cx="4450478" cy="4584700"/>
          </a:xfrm>
        </p:spPr>
        <p:txBody>
          <a:bodyPr>
            <a:noAutofit/>
          </a:bodyPr>
          <a:lstStyle/>
          <a:p>
            <a:r>
              <a:rPr lang="ru-RU" sz="2400" dirty="0" err="1"/>
              <a:t>Цифровизация</a:t>
            </a:r>
            <a:r>
              <a:rPr lang="ru-RU" sz="2400" dirty="0"/>
              <a:t> экономики изменила мир, и онлайн-шопинг теперь – неотъемлемая часть нашей жизни. В прошлом году мировой e-</a:t>
            </a:r>
            <a:r>
              <a:rPr lang="ru-RU" sz="2400" dirty="0" err="1"/>
              <a:t>commerce</a:t>
            </a:r>
            <a:r>
              <a:rPr lang="ru-RU" sz="2400" dirty="0"/>
              <a:t> рынок вырос до $6,3 триллиона, а онлайн-покупателей стало больше 2,7 миллиарда. Это говорит о том, как сильно изменились наши покупательские привычки.</a:t>
            </a:r>
            <a:endParaRPr lang="ru-RU" sz="3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</a:t>
            </a:fld>
            <a:endParaRPr lang="ru-RU" sz="4800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187" y="2336800"/>
            <a:ext cx="3598863" cy="3598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86479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4</a:t>
            </a:fld>
            <a:endParaRPr lang="ru-RU" sz="4800" dirty="0"/>
          </a:p>
        </p:txBody>
      </p:sp>
      <p:pic>
        <p:nvPicPr>
          <p:cNvPr id="8" name="Объект 7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754" y="2114550"/>
            <a:ext cx="6984196" cy="45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141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5</a:t>
            </a:fld>
            <a:endParaRPr lang="ru-RU" sz="4800" dirty="0"/>
          </a:p>
        </p:txBody>
      </p:sp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939" y="2089150"/>
            <a:ext cx="7643161" cy="45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47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6</a:t>
            </a:fld>
            <a:endParaRPr lang="ru-RU" sz="4800" dirty="0"/>
          </a:p>
        </p:txBody>
      </p:sp>
      <p:pic>
        <p:nvPicPr>
          <p:cNvPr id="8" name="Объект 7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602" y="2082800"/>
            <a:ext cx="6498648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14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7</a:t>
            </a:fld>
            <a:endParaRPr lang="ru-RU" sz="4800" dirty="0"/>
          </a:p>
        </p:txBody>
      </p:sp>
      <p:pic>
        <p:nvPicPr>
          <p:cNvPr id="9" name="Объект 8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574" y="2095500"/>
            <a:ext cx="6871026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98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8</a:t>
            </a:fld>
            <a:endParaRPr lang="ru-RU" sz="4800" dirty="0"/>
          </a:p>
        </p:txBody>
      </p:sp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665" y="2089150"/>
            <a:ext cx="6948085" cy="45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57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Патентный поиск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Для патентного поиска и отбора лучших качеств у других платформ, за основу были взяты такие гиганты как: </a:t>
            </a:r>
            <a:r>
              <a:rPr lang="en-US" sz="2400" dirty="0" err="1" smtClean="0"/>
              <a:t>Wildberries</a:t>
            </a:r>
            <a:r>
              <a:rPr lang="en-US" sz="2400" dirty="0" smtClean="0"/>
              <a:t>, </a:t>
            </a:r>
            <a:r>
              <a:rPr lang="en-US" sz="2400" dirty="0" err="1" smtClean="0"/>
              <a:t>Ozon</a:t>
            </a:r>
            <a:r>
              <a:rPr lang="ru-RU" sz="2400" dirty="0"/>
              <a:t> </a:t>
            </a:r>
            <a:r>
              <a:rPr lang="ru-RU" sz="2400" dirty="0" smtClean="0"/>
              <a:t>и </a:t>
            </a:r>
            <a:r>
              <a:rPr lang="ru-RU" sz="2400" dirty="0" err="1" smtClean="0"/>
              <a:t>Яндекс.Маркет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9</a:t>
            </a:fld>
            <a:endParaRPr lang="ru-RU" sz="4800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187" y="2336800"/>
            <a:ext cx="3598863" cy="3598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313438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Патентный поиск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10</a:t>
            </a:fld>
            <a:endParaRPr lang="ru-RU" sz="4800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710" y="2133600"/>
            <a:ext cx="6816240" cy="447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64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Патентный поиск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11</a:t>
            </a:fld>
            <a:endParaRPr lang="ru-RU" sz="4800" dirty="0"/>
          </a:p>
        </p:txBody>
      </p:sp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950" y="2134621"/>
            <a:ext cx="5295900" cy="2939029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 rotWithShape="1">
          <a:blip r:embed="rId3"/>
          <a:srcRect l="6601" r="6708"/>
          <a:stretch/>
        </p:blipFill>
        <p:spPr>
          <a:xfrm>
            <a:off x="3009900" y="3336290"/>
            <a:ext cx="5149850" cy="347472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4"/>
          <a:srcRect l="7884" r="8311"/>
          <a:stretch/>
        </p:blipFill>
        <p:spPr>
          <a:xfrm>
            <a:off x="7397750" y="2134621"/>
            <a:ext cx="4441406" cy="287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3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Стэк</a:t>
            </a:r>
            <a:r>
              <a:rPr lang="ru-RU" dirty="0" smtClean="0"/>
              <a:t> используемых технологий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12</a:t>
            </a:fld>
            <a:endParaRPr lang="ru-RU" sz="4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2" y="4221866"/>
            <a:ext cx="3866078" cy="273138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214" y="2229594"/>
            <a:ext cx="3089275" cy="221452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603" y="2413000"/>
            <a:ext cx="2514600" cy="25146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3" y="2097394"/>
            <a:ext cx="4171950" cy="234672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414" y="4143144"/>
            <a:ext cx="5664200" cy="26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77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Моделирование базы данных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13</a:t>
            </a:fld>
            <a:endParaRPr lang="ru-RU" sz="4800" dirty="0"/>
          </a:p>
        </p:txBody>
      </p:sp>
      <p:pic>
        <p:nvPicPr>
          <p:cNvPr id="1027" name="Picture 3" descr="Концептуальная модель БД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65349"/>
            <a:ext cx="7683500" cy="4486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8402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Моделирование базы данных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14</a:t>
            </a:fld>
            <a:endParaRPr lang="ru-RU" sz="4800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94037" y="2133600"/>
            <a:ext cx="5808663" cy="449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56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Моделирование базы данных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15</a:t>
            </a:fld>
            <a:endParaRPr lang="ru-RU" sz="4800" dirty="0"/>
          </a:p>
        </p:txBody>
      </p:sp>
      <p:pic>
        <p:nvPicPr>
          <p:cNvPr id="2050" name="Picture 2" descr="Физическая модель Б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315" y="2107777"/>
            <a:ext cx="3985931" cy="4606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793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Моделирование базы данных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16</a:t>
            </a:fld>
            <a:endParaRPr lang="ru-RU" sz="4800" dirty="0"/>
          </a:p>
        </p:txBody>
      </p:sp>
      <p:pic>
        <p:nvPicPr>
          <p:cNvPr id="2050" name="Picture 2" descr="Физическая модель Б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315" y="2107777"/>
            <a:ext cx="3985931" cy="4606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0127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17</a:t>
            </a:fld>
            <a:endParaRPr lang="ru-RU" sz="4800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703637" y="2053905"/>
            <a:ext cx="6735763" cy="4632643"/>
          </a:xfrm>
          <a:prstGeom prst="rect">
            <a:avLst/>
          </a:prstGeom>
        </p:spPr>
      </p:pic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515222" y="3745283"/>
            <a:ext cx="2647078" cy="1249889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Диаграмма развёртывания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23502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18</a:t>
            </a:fld>
            <a:endParaRPr lang="ru-RU" sz="4800" dirty="0"/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439022" y="3751633"/>
            <a:ext cx="2647078" cy="1249889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Диаграмма классов</a:t>
            </a:r>
            <a:endParaRPr lang="ru-RU" sz="2400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3162300" y="2030094"/>
            <a:ext cx="7289800" cy="456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53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Фронтенд</a:t>
            </a:r>
            <a:r>
              <a:rPr lang="ru-RU" dirty="0" smtClean="0"/>
              <a:t> часть приложения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19</a:t>
            </a:fld>
            <a:endParaRPr lang="ru-RU" sz="4800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20662" y="2094541"/>
            <a:ext cx="5940425" cy="339852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405144" y="2713991"/>
            <a:ext cx="5478462" cy="38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367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Фронтенд</a:t>
            </a:r>
            <a:r>
              <a:rPr lang="ru-RU" dirty="0" smtClean="0"/>
              <a:t> часть приложения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20</a:t>
            </a:fld>
            <a:endParaRPr lang="ru-RU" sz="4800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204787" y="2045652"/>
            <a:ext cx="5940425" cy="3681095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6515100" y="3195003"/>
            <a:ext cx="5491162" cy="32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884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Фронтенд</a:t>
            </a:r>
            <a:r>
              <a:rPr lang="ru-RU" dirty="0" smtClean="0"/>
              <a:t> часть приложения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21</a:t>
            </a:fld>
            <a:endParaRPr lang="ru-RU" sz="4800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55587" y="2152650"/>
            <a:ext cx="5940425" cy="345440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628447" y="2152650"/>
            <a:ext cx="5107305" cy="422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416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Фронтенд</a:t>
            </a:r>
            <a:r>
              <a:rPr lang="ru-RU" dirty="0" smtClean="0"/>
              <a:t> часть приложения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22</a:t>
            </a:fld>
            <a:endParaRPr lang="ru-RU" sz="4800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201295" y="2085975"/>
            <a:ext cx="5539105" cy="4619625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5943181" y="2560002"/>
            <a:ext cx="5940425" cy="324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297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Фронтенд</a:t>
            </a:r>
            <a:r>
              <a:rPr lang="ru-RU" dirty="0" smtClean="0"/>
              <a:t> часть приложения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23</a:t>
            </a:fld>
            <a:endParaRPr lang="ru-RU" sz="4800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93687" y="2275205"/>
            <a:ext cx="5940425" cy="223139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503987" y="2385551"/>
            <a:ext cx="5434013" cy="424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58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24</a:t>
            </a:fld>
            <a:endParaRPr lang="ru-RU" sz="4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" t="11695" r="7042" b="3033"/>
          <a:stretch/>
        </p:blipFill>
        <p:spPr>
          <a:xfrm>
            <a:off x="1797050" y="2057400"/>
            <a:ext cx="8375650" cy="460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8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 smtClean="0"/>
              <a:t>Тема: разработка веб-приложения «</a:t>
            </a:r>
            <a:r>
              <a:rPr lang="ru-RU" sz="4400" dirty="0" err="1" smtClean="0"/>
              <a:t>Маркетплейс</a:t>
            </a:r>
            <a:r>
              <a:rPr lang="ru-RU" sz="4400" dirty="0" smtClean="0"/>
              <a:t>»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Работу выполнил студент группы ИС-22:</a:t>
            </a:r>
          </a:p>
          <a:p>
            <a:r>
              <a:rPr lang="ru-RU" dirty="0" smtClean="0"/>
              <a:t>Захаров Илья Сергеевич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00E2B-5CD4-BE56-5B60-B45558A8CC31}"/>
              </a:ext>
            </a:extLst>
          </p:cNvPr>
          <p:cNvSpPr txBox="1"/>
          <p:nvPr/>
        </p:nvSpPr>
        <p:spPr>
          <a:xfrm>
            <a:off x="1916706" y="306354"/>
            <a:ext cx="8796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ФГБОУ ВО «Заполярный государственный университет» им. Н.М. Федоровского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74040-14C4-D2E6-8FC0-C94A2D02FE3D}"/>
              </a:ext>
            </a:extLst>
          </p:cNvPr>
          <p:cNvSpPr txBox="1"/>
          <p:nvPr/>
        </p:nvSpPr>
        <p:spPr>
          <a:xfrm>
            <a:off x="3523698" y="675686"/>
            <a:ext cx="5582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кафедра информационных систем и технологий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92E52-71D7-413E-F757-A3075FAD42C6}"/>
              </a:ext>
            </a:extLst>
          </p:cNvPr>
          <p:cNvSpPr txBox="1"/>
          <p:nvPr/>
        </p:nvSpPr>
        <p:spPr>
          <a:xfrm>
            <a:off x="5360240" y="6360114"/>
            <a:ext cx="190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Норильск 2024</a:t>
            </a:r>
          </a:p>
        </p:txBody>
      </p:sp>
    </p:spTree>
    <p:extLst>
      <p:ext uri="{BB962C8B-B14F-4D97-AF65-F5344CB8AC3E}">
        <p14:creationId xmlns:p14="http://schemas.microsoft.com/office/powerpoint/2010/main" val="83827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46</TotalTime>
  <Words>253</Words>
  <Application>Microsoft Office PowerPoint</Application>
  <PresentationFormat>Широкоэкранный</PresentationFormat>
  <Paragraphs>63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Trebuchet MS</vt:lpstr>
      <vt:lpstr>Берлин</vt:lpstr>
      <vt:lpstr>Тема: разработка веб-приложения «Маркетплейс»</vt:lpstr>
      <vt:lpstr>Введение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Патентный поиск</vt:lpstr>
      <vt:lpstr>Патентный поиск</vt:lpstr>
      <vt:lpstr>Патентный поиск</vt:lpstr>
      <vt:lpstr>Стэк используемых технологий</vt:lpstr>
      <vt:lpstr>Моделирование базы данных</vt:lpstr>
      <vt:lpstr>Моделирование базы данных</vt:lpstr>
      <vt:lpstr>Моделирование базы данных</vt:lpstr>
      <vt:lpstr>Моделирование базы данных</vt:lpstr>
      <vt:lpstr>Архитектура</vt:lpstr>
      <vt:lpstr>Архитектура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Спасибо за внимание!</vt:lpstr>
      <vt:lpstr>Тема: разработка веб-приложения «Маркетплейс»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разработка веб-приложения «Маркетплейс»</dc:title>
  <dc:creator>Ilia Zaharov</dc:creator>
  <cp:lastModifiedBy>Ilia Zaharov</cp:lastModifiedBy>
  <cp:revision>11</cp:revision>
  <dcterms:created xsi:type="dcterms:W3CDTF">2025-06-05T16:36:15Z</dcterms:created>
  <dcterms:modified xsi:type="dcterms:W3CDTF">2025-06-05T17:22:45Z</dcterms:modified>
</cp:coreProperties>
</file>